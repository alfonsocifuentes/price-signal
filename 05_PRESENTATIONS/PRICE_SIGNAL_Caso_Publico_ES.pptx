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Empieza por la pregunta, no por las herramientas. Todo es ficticio y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Promediar productos distintos produce respuestas erróneas con aspecto seguro.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Subraya que los datos son inventados a propósito y con problemas sembrados.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orden importa: editar el origen primero destruye la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Abstenerse es una virtud: mejor una etiqueta sin resolver que una errónea y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Tratar el vacío como «sin límite» inventaría una característica del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dos filas reaparecen después como falsas excepciones de precio.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registro era correcto. El problema era el parser.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una queda registrada con una decisión: mantener, consultar, normalizar o investigar.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lo comparable es una definición que se escribe antes de mirar precios.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Detente en las seis: ¿son decisiones de precio?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precio Starter es una estrategia plausible; los dos registros mal archivados no son precios.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lección central: la calidad del dato cambia la lectura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Precio medio ficticio por tipo de producto, con recuentos.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 serie y nivel en cada comparación. En dos niveles de Little Lanterns las partes y el volumen llevan etiquetas de edición distintas; la prima es idéntica en ambos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precio recomendado: se entregan preguntas precisas.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el método y señala los ficheros.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FF7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 DE ESTUDIO INDEPENDIENTE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C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C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144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</a:t>
            </a:r>
            <a:endParaRPr lang="en-US" sz="9600" dirty="0"/>
          </a:p>
        </p:txBody>
      </p:sp>
      <p:sp>
        <p:nvSpPr>
          <p:cNvPr id="16" name="Text 13"/>
          <p:cNvSpPr/>
          <p:nvPr/>
        </p:nvSpPr>
        <p:spPr>
          <a:xfrm>
            <a:off x="566928" y="2240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CLARIDAD.</a:t>
            </a:r>
            <a:endParaRPr lang="en-US" sz="6400" dirty="0"/>
          </a:p>
        </p:txBody>
      </p:sp>
      <p:sp>
        <p:nvSpPr>
          <p:cNvPr id="17" name="Text 14"/>
          <p:cNvSpPr/>
          <p:nvPr/>
        </p:nvSpPr>
        <p:spPr>
          <a:xfrm>
            <a:off x="566928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9A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comparar precios, compara productos.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66928" y="4480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E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362 productos inventados · 54 de 60 grupos comparables mantienen un precio · dos de las seis excepciones eran errores de archivo.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6928" y="5669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ALFONSO CIFUENTES · PORTFOLIO DE ANÁLISIS DE DATOS · TODOS LOS DATOS SON FICTICIOS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PREGUNTA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6012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lista de precios es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lista de supuestos.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566928" y="29260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precio medio global es 44,04 €, una cifra que no describe ningún producto: los cuadernos promedian 24,72 € y los libros del alumno 60,51 €.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MATERIAL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" y="9144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spc="-400" kern="0" dirty="0">
                <a:solidFill>
                  <a:srgbClr val="243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362</a:t>
            </a:r>
            <a:endParaRPr lang="en-US" sz="15000" dirty="0"/>
          </a:p>
        </p:txBody>
      </p:sp>
      <p:sp>
        <p:nvSpPr>
          <p:cNvPr id="16" name="Text 13"/>
          <p:cNvSpPr/>
          <p:nvPr/>
        </p:nvSpPr>
        <p:spPr>
          <a:xfrm>
            <a:off x="6217920" y="14173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ficticios,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series inventadas.</a:t>
            </a:r>
            <a:endParaRPr lang="en-US" sz="3400" dirty="0"/>
          </a:p>
        </p:txBody>
      </p:sp>
      <p:sp>
        <p:nvSpPr>
          <p:cNvPr id="17" name="Shape 14"/>
          <p:cNvSpPr/>
          <p:nvPr/>
        </p:nvSpPr>
        <p:spPr>
          <a:xfrm>
            <a:off x="566928" y="3886200"/>
            <a:ext cx="11057839" cy="1828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41148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columnas de origen → 19 enriquecidas · generador con semilla (20261011) · misma semilla, mismos bytes · sin editorial ni precios reales.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MÉTODO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6012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 el producto.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 mira el precio.</a:t>
            </a:r>
            <a:endParaRPr lang="en-US" sz="4400" dirty="0"/>
          </a:p>
        </p:txBody>
      </p:sp>
      <p:sp>
        <p:nvSpPr>
          <p:cNvPr id="16" name="Shape 13"/>
          <p:cNvSpPr/>
          <p:nvPr/>
        </p:nvSpPr>
        <p:spPr>
          <a:xfrm>
            <a:off x="566928" y="3200400"/>
            <a:ext cx="566928" cy="566928"/>
          </a:xfrm>
          <a:prstGeom prst="ellipse">
            <a:avLst/>
          </a:prstGeom>
          <a:solidFill>
            <a:srgbClr val="2433B8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291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66928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Conservar el origen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355848" y="3200400"/>
            <a:ext cx="566928" cy="566928"/>
          </a:xfrm>
          <a:prstGeom prst="ellipse">
            <a:avLst/>
          </a:prstGeom>
          <a:solidFill>
            <a:srgbClr val="2433B8"/>
          </a:solidFill>
          <a:ln/>
        </p:spPr>
      </p:sp>
      <p:sp>
        <p:nvSpPr>
          <p:cNvPr id="20" name="Text 17"/>
          <p:cNvSpPr/>
          <p:nvPr/>
        </p:nvSpPr>
        <p:spPr>
          <a:xfrm>
            <a:off x="3355848" y="3291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355848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la estructura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144768" y="3200400"/>
            <a:ext cx="566928" cy="566928"/>
          </a:xfrm>
          <a:prstGeom prst="ellipse">
            <a:avLst/>
          </a:prstGeom>
          <a:solidFill>
            <a:srgbClr val="2433B8"/>
          </a:solidFill>
          <a:ln/>
        </p:spPr>
      </p:sp>
      <p:sp>
        <p:nvSpPr>
          <p:cNvPr id="23" name="Text 20"/>
          <p:cNvSpPr/>
          <p:nvPr/>
        </p:nvSpPr>
        <p:spPr>
          <a:xfrm>
            <a:off x="6144768" y="3291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144768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lo comparable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8933688" y="3200400"/>
            <a:ext cx="566928" cy="566928"/>
          </a:xfrm>
          <a:prstGeom prst="ellipse">
            <a:avLst/>
          </a:prstGeom>
          <a:solidFill>
            <a:srgbClr val="C2105F"/>
          </a:solidFill>
          <a:ln/>
        </p:spPr>
      </p:sp>
      <p:sp>
        <p:nvSpPr>
          <p:cNvPr id="26" name="Text 23"/>
          <p:cNvSpPr/>
          <p:nvPr/>
        </p:nvSpPr>
        <p:spPr>
          <a:xfrm>
            <a:off x="8933688" y="3291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933688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hecho y conjetura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1133856" y="3483864"/>
            <a:ext cx="8366760" cy="0"/>
          </a:xfrm>
          <a:prstGeom prst="line">
            <a:avLst/>
          </a:prstGeom>
          <a:noFill/>
          <a:ln w="19050">
            <a:solidFill>
              <a:srgbClr val="C2105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2 · ESTRUCTURA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6012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título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esquema.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566928" y="29260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parser de reglas que solo lee títulos coincidió con las etiquetas de referencia en nivel, pack, solucionario, parte del libro, audio y acceso digital en las 362 filas. En tipo de producto se abstuvo dos veces («TB», «Gleebook») en lugar de adivinar. Las reglas se escribieron para estos títulos: esto comprueba las reglas, no la precisión con datos reales. La edición y la duración del acceso nunca aparecen en el título: solo pueden venir de metadatos.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GOBIERNO DEL DATO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" y="9144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spc="-400" kern="0" dirty="0">
                <a:solidFill>
                  <a:srgbClr val="243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6/72</a:t>
            </a:r>
            <a:endParaRPr lang="en-US" sz="15000" dirty="0"/>
          </a:p>
        </p:txBody>
      </p:sp>
      <p:sp>
        <p:nvSpPr>
          <p:cNvPr id="16" name="Text 13"/>
          <p:cNvSpPr/>
          <p:nvPr/>
        </p:nvSpPr>
        <p:spPr>
          <a:xfrm>
            <a:off x="6217920" y="14173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Desconocido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«no».</a:t>
            </a:r>
            <a:endParaRPr lang="en-US" sz="3400" dirty="0"/>
          </a:p>
        </p:txBody>
      </p:sp>
      <p:sp>
        <p:nvSpPr>
          <p:cNvPr id="17" name="Shape 14"/>
          <p:cNvSpPr/>
          <p:nvPr/>
        </p:nvSpPr>
        <p:spPr>
          <a:xfrm>
            <a:off x="566928" y="3886200"/>
            <a:ext cx="11057839" cy="1828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41148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6 de 72 cuadernos digitales indican duración de acceso (18 meses). Un vacío significa desconocido, no ilimitado.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TRAMPA · SERIE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6012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registros archivados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el nombre equivocado.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71800"/>
          <a:ext cx="11057839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766560"/>
                <a:gridCol w="33741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4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4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Título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4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Campo serie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Mosaic English B1 Premium Pack with Digital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10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Glasshouse English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Glasshouse English C1 Study Pack with Digital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10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Kindred Horizons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66928" y="466344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Señalar y reubicar en una vista de reporting. Nunca sobrescribir el origen.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TRAMPA · PARSING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6012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Gleebook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eBook.</a:t>
            </a:r>
            <a:endParaRPr lang="en-US" sz="4400" dirty="0"/>
          </a:p>
        </p:txBody>
      </p:sp>
      <p:sp>
        <p:nvSpPr>
          <p:cNvPr id="16" name="Shape 13"/>
          <p:cNvSpPr/>
          <p:nvPr/>
        </p:nvSpPr>
        <p:spPr>
          <a:xfrm>
            <a:off x="566928" y="3017520"/>
            <a:ext cx="5486400" cy="2377440"/>
          </a:xfrm>
          <a:prstGeom prst="rect">
            <a:avLst/>
          </a:prstGeom>
          <a:solidFill>
            <a:srgbClr val="FBFBF8"/>
          </a:solidFill>
          <a:ln w="15875">
            <a:solidFill>
              <a:srgbClr val="1516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 INGENUA POR SUBCADENA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"ebook" in title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41248" y="42519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1527048" y="45262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 eBook: se concede acceso digital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108192" y="3017520"/>
            <a:ext cx="5486400" cy="2377440"/>
          </a:xfrm>
          <a:prstGeom prst="rect">
            <a:avLst/>
          </a:prstGeom>
          <a:solidFill>
            <a:srgbClr val="FBFBF8"/>
          </a:solidFill>
          <a:ln w="15875">
            <a:solidFill>
              <a:srgbClr val="1516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43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 CON LÍMITES DE PALABRA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82512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\be-?book\b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382512" y="42519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43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25" name="Text 22"/>
          <p:cNvSpPr/>
          <p:nvPr/>
        </p:nvSpPr>
        <p:spPr>
          <a:xfrm>
            <a:off x="7068312" y="45262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coincidencias: lo impreso sigue impreso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TRAMPAS 3–7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6012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ambigüedad es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deuda operativa.</a:t>
            </a:r>
            <a:endParaRPr lang="en-US" sz="4400" dirty="0"/>
          </a:p>
        </p:txBody>
      </p:sp>
      <p:sp>
        <p:nvSpPr>
          <p:cNvPr id="16" name="Shape 13"/>
          <p:cNvSpPr/>
          <p:nvPr/>
        </p:nvSpPr>
        <p:spPr>
          <a:xfrm>
            <a:off x="566928" y="2898648"/>
            <a:ext cx="329184" cy="329184"/>
          </a:xfrm>
          <a:prstGeom prst="ellipse">
            <a:avLst/>
          </a:prstGeom>
          <a:ln w="19050">
            <a:solidFill>
              <a:srgbClr val="C210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93522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28986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Alias de edición: «Second Edition» ×3 y «2nd Edition» ×3. Normalizar solo en reporting.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66928" y="3520440"/>
            <a:ext cx="329184" cy="329184"/>
          </a:xfrm>
          <a:prstGeom prst="ellipse">
            <a:avLst/>
          </a:prstGeom>
          <a:ln w="19050">
            <a:solidFill>
              <a:srgbClr val="C210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5570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3520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Nombre del pack: «+ Online Access» ×6 frente a «with Digital» ×24. Fusionarlos es una decisión de negocio.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66928" y="4142232"/>
            <a:ext cx="329184" cy="329184"/>
          </a:xfrm>
          <a:prstGeom prst="ellipse">
            <a:avLst/>
          </a:prstGeom>
          <a:ln w="19050">
            <a:solidFill>
              <a:srgbClr val="C210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1788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4142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Deriva de taxonomía: fila 61, un libro de Primaria en un subsegmento de Secundaria.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66928" y="4764024"/>
            <a:ext cx="329184" cy="329184"/>
          </a:xfrm>
          <a:prstGeom prst="ellipse">
            <a:avLst/>
          </a:prstGeom>
          <a:ln w="19050">
            <a:solidFill>
              <a:srgbClr val="C210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48006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5568" y="47640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«TB» a 108,49 €: único precio sobre la valla IQR superior (unos 100 €). Tipo sin resolver.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66928" y="5385816"/>
            <a:ext cx="329184" cy="329184"/>
          </a:xfrm>
          <a:prstGeom prst="ellipse">
            <a:avLst/>
          </a:prstGeom>
          <a:ln w="19050">
            <a:solidFill>
              <a:srgbClr val="C210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54223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15568" y="53858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Duración de acceso escasa: 66 cuadernos digitales no indican nada.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DISEÑO ANALÍTICO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" y="9144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spc="-400" kern="0" dirty="0">
                <a:solidFill>
                  <a:srgbClr val="243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000" dirty="0"/>
          </a:p>
        </p:txBody>
      </p:sp>
      <p:sp>
        <p:nvSpPr>
          <p:cNvPr id="16" name="Text 13"/>
          <p:cNvSpPr/>
          <p:nvPr/>
        </p:nvSpPr>
        <p:spPr>
          <a:xfrm>
            <a:off x="6217920" y="14173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comparables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68.</a:t>
            </a:r>
            <a:endParaRPr lang="en-US" sz="3400" dirty="0"/>
          </a:p>
        </p:txBody>
      </p:sp>
      <p:sp>
        <p:nvSpPr>
          <p:cNvPr id="17" name="Shape 14"/>
          <p:cNvSpPr/>
          <p:nvPr/>
        </p:nvSpPr>
        <p:spPr>
          <a:xfrm>
            <a:off x="566928" y="3886200"/>
            <a:ext cx="11057839" cy="1828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41148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Diez atributos fijos: serie, tipo, rol, parte, pack, solucionario, ambos accesos digitales, recursos y edición. Solo cambia el nivel. 8 grupos tienen un único nivel y quedan fuera.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HALLAZGO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0976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35024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19072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03120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87168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71216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55264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39312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23360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07408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91456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50976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335024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719072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03120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487168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871216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55264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39312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023360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07408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91456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6928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50976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335024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719072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103120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487168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71216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55264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639312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023360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407408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91456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66928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50976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335024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719072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103120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487168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871216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255264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639312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023360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407408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791456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66928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50976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335024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719072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103120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487168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871216" y="2679192"/>
            <a:ext cx="310896" cy="310896"/>
          </a:xfrm>
          <a:prstGeom prst="rect">
            <a:avLst/>
          </a:prstGeom>
          <a:ln w="19050">
            <a:solidFill>
              <a:srgbClr val="2433B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871216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255264" y="2679192"/>
            <a:ext cx="310896" cy="310896"/>
          </a:xfrm>
          <a:prstGeom prst="rect">
            <a:avLst/>
          </a:prstGeom>
          <a:ln w="19050">
            <a:solidFill>
              <a:srgbClr val="2433B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255264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3639312" y="2679192"/>
            <a:ext cx="310896" cy="310896"/>
          </a:xfrm>
          <a:prstGeom prst="rect">
            <a:avLst/>
          </a:prstGeom>
          <a:ln w="19050">
            <a:solidFill>
              <a:srgbClr val="2433B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639312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4023360" y="2679192"/>
            <a:ext cx="310896" cy="310896"/>
          </a:xfrm>
          <a:prstGeom prst="rect">
            <a:avLst/>
          </a:prstGeom>
          <a:ln w="19050">
            <a:solidFill>
              <a:srgbClr val="2433B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023360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4407408" y="2679192"/>
            <a:ext cx="310896" cy="310896"/>
          </a:xfrm>
          <a:prstGeom prst="rect">
            <a:avLst/>
          </a:prstGeom>
          <a:ln w="19050">
            <a:solidFill>
              <a:srgbClr val="C2105F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407408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4791456" y="2679192"/>
            <a:ext cx="310896" cy="310896"/>
          </a:xfrm>
          <a:prstGeom prst="rect">
            <a:avLst/>
          </a:prstGeom>
          <a:ln w="19050">
            <a:solidFill>
              <a:srgbClr val="C2105F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791456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5486400" y="10058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00" b="1" spc="-3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54/60</a:t>
            </a:r>
            <a:endParaRPr lang="en-US" sz="10800" dirty="0"/>
          </a:p>
        </p:txBody>
      </p:sp>
      <p:sp>
        <p:nvSpPr>
          <p:cNvPr id="82" name="Text 79"/>
          <p:cNvSpPr/>
          <p:nvPr/>
        </p:nvSpPr>
        <p:spPr>
          <a:xfrm>
            <a:off x="5486400" y="27432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mantienen un precio</a:t>
            </a:r>
            <a:endParaRPr lang="en-US" sz="2800" dirty="0"/>
          </a:p>
          <a:p>
            <a:pPr algn="r" indent="0" marL="0">
              <a:buNone/>
            </a:pPr>
            <a:r>
              <a:rPr lang="en-US" sz="28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todos los niveles.</a:t>
            </a:r>
            <a:endParaRPr lang="en-US" sz="2800" dirty="0"/>
          </a:p>
        </p:txBody>
      </p:sp>
      <p:sp>
        <p:nvSpPr>
          <p:cNvPr id="83" name="Shape 80"/>
          <p:cNvSpPr/>
          <p:nvPr/>
        </p:nvSpPr>
        <p:spPr>
          <a:xfrm>
            <a:off x="566928" y="4160520"/>
            <a:ext cx="11057839" cy="1828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84" name="Text 81"/>
          <p:cNvSpPr/>
          <p:nvPr/>
        </p:nvSpPr>
        <p:spPr>
          <a:xfrm>
            <a:off x="566928" y="438912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90,0 % de los grupos comparables. Quedan seis excepciones.</a:t>
            </a:r>
            <a:endParaRPr lang="en-US" sz="1900" dirty="0"/>
          </a:p>
        </p:txBody>
      </p:sp>
      <p:sp>
        <p:nvSpPr>
          <p:cNvPr id="85" name="Text 82"/>
          <p:cNvSpPr/>
          <p:nvPr/>
        </p:nvSpPr>
        <p:spPr>
          <a:xfrm>
            <a:off x="566928" y="5212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Starter más barato · M = registro mal archivado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 EXCEPCIONES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86868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precios Starter,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errores de archivo.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31720"/>
          <a:ext cx="11057839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486400"/>
                <a:gridCol w="1600200"/>
                <a:gridCol w="1234440"/>
                <a:gridCol w="113385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Serie (registrada) · configuración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Valor atípico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Diferencia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 Starter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Mosaic English · Student Book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Starter 33,49 €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−8,00 €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 Starter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Mosaic English · Workbook · with Audio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Starter 16,49 €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−4,00 €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 Starter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Silverline Skills · Student Book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Starter 39,49 €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−8,00 €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 Starter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Silverline Skills · Workbook · with Audio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Starter 24,49 €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−4,00 €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10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 de archivo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Glasshouse English · Student Book · Premium Pack  (fila 20: Mosaic English)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B1 69,49 €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−17,00 €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10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 de archivo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Kindred Horizons · Student Book · Study Pack  (fila 155: Glasshouse English)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C1 67,49 €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69,49 €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16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−2,00 €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66928" y="559612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C4E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niveles Starter entre 4 y 8 € por debajo del resto: estrategia plausible, sin confirmar. Dos grupos contienen un producto de otra serie: su «excepción» es un error de archivo.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VISTA DE REPORTING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0976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35024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19072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03120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87168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71216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55264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39312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23360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07408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91456" y="1143000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50976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335024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719072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03120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487168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871216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55264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39312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023360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07408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91456" y="1527048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6928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50976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335024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719072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103120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487168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71216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55264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639312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023360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407408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91456" y="1911096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66928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50976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335024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719072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103120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487168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871216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255264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639312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023360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407408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791456" y="2295144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66928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50976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335024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719072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103120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487168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871216" y="2679192"/>
            <a:ext cx="310896" cy="310896"/>
          </a:xfrm>
          <a:prstGeom prst="rect">
            <a:avLst/>
          </a:prstGeom>
          <a:ln w="19050">
            <a:solidFill>
              <a:srgbClr val="2433B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871216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255264" y="2679192"/>
            <a:ext cx="310896" cy="310896"/>
          </a:xfrm>
          <a:prstGeom prst="rect">
            <a:avLst/>
          </a:prstGeom>
          <a:ln w="19050">
            <a:solidFill>
              <a:srgbClr val="2433B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255264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3639312" y="2679192"/>
            <a:ext cx="310896" cy="310896"/>
          </a:xfrm>
          <a:prstGeom prst="rect">
            <a:avLst/>
          </a:prstGeom>
          <a:ln w="19050">
            <a:solidFill>
              <a:srgbClr val="2433B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639312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4023360" y="2679192"/>
            <a:ext cx="310896" cy="310896"/>
          </a:xfrm>
          <a:prstGeom prst="rect">
            <a:avLst/>
          </a:prstGeom>
          <a:ln w="19050">
            <a:solidFill>
              <a:srgbClr val="2433B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023360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4407408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407408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4791456" y="2679192"/>
            <a:ext cx="310896" cy="310896"/>
          </a:xfrm>
          <a:prstGeom prst="rect">
            <a:avLst/>
          </a:prstGeom>
          <a:solidFill>
            <a:srgbClr val="2433B8"/>
          </a:solidFill>
          <a:ln w="19050">
            <a:solidFill>
              <a:srgbClr val="2433B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791456" y="27432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5486400" y="10058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00" b="1" spc="-300" kern="0" dirty="0">
                <a:solidFill>
                  <a:srgbClr val="243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56/60</a:t>
            </a:r>
            <a:endParaRPr lang="en-US" sz="10800" dirty="0"/>
          </a:p>
        </p:txBody>
      </p:sp>
      <p:sp>
        <p:nvSpPr>
          <p:cNvPr id="82" name="Text 79"/>
          <p:cNvSpPr/>
          <p:nvPr/>
        </p:nvSpPr>
        <p:spPr>
          <a:xfrm>
            <a:off x="5486400" y="27432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 reubicar</a:t>
            </a:r>
            <a:endParaRPr lang="en-US" sz="2800" dirty="0"/>
          </a:p>
          <a:p>
            <a:pPr algn="r" indent="0" marL="0">
              <a:buNone/>
            </a:pPr>
            <a:r>
              <a:rPr lang="en-US" sz="28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registros.</a:t>
            </a:r>
            <a:endParaRPr lang="en-US" sz="2800" dirty="0"/>
          </a:p>
        </p:txBody>
      </p:sp>
      <p:sp>
        <p:nvSpPr>
          <p:cNvPr id="83" name="Shape 80"/>
          <p:cNvSpPr/>
          <p:nvPr/>
        </p:nvSpPr>
        <p:spPr>
          <a:xfrm>
            <a:off x="566928" y="4160520"/>
            <a:ext cx="11057839" cy="1828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84" name="Text 81"/>
          <p:cNvSpPr/>
          <p:nvPr/>
        </p:nvSpPr>
        <p:spPr>
          <a:xfrm>
            <a:off x="566928" y="438912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93,3 %, sin tocar el fichero de origen. Dos «excepciones de precio» eran errores de datos.</a:t>
            </a:r>
            <a:endParaRPr lang="en-US" sz="1900" dirty="0"/>
          </a:p>
        </p:txBody>
      </p:sp>
      <p:sp>
        <p:nvSpPr>
          <p:cNvPr id="85" name="Text 82"/>
          <p:cNvSpPr/>
          <p:nvPr/>
        </p:nvSpPr>
        <p:spPr>
          <a:xfrm>
            <a:off x="566928" y="5212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Starter más barato · M = registro mal archivado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MEZCLA DE PRODUCTOS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6012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distintos,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 distintas.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566928" y="2916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Cuaderno (120)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93008" y="2880360"/>
            <a:ext cx="1458455" cy="274320"/>
          </a:xfrm>
          <a:prstGeom prst="rect">
            <a:avLst/>
          </a:prstGeom>
          <a:solidFill>
            <a:srgbClr val="2433B8"/>
          </a:solidFill>
          <a:ln/>
        </p:spPr>
      </p:sp>
      <p:sp>
        <p:nvSpPr>
          <p:cNvPr id="18" name="Text 15"/>
          <p:cNvSpPr/>
          <p:nvPr/>
        </p:nvSpPr>
        <p:spPr>
          <a:xfrm>
            <a:off x="5042903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24,72 €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" y="3392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 del alumno (108)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93008" y="3355848"/>
            <a:ext cx="3570029" cy="274320"/>
          </a:xfrm>
          <a:prstGeom prst="rect">
            <a:avLst/>
          </a:prstGeom>
          <a:solidFill>
            <a:srgbClr val="2433B8"/>
          </a:solidFill>
          <a:ln/>
        </p:spPr>
      </p:sp>
      <p:sp>
        <p:nvSpPr>
          <p:cNvPr id="21" name="Text 18"/>
          <p:cNvSpPr/>
          <p:nvPr/>
        </p:nvSpPr>
        <p:spPr>
          <a:xfrm>
            <a:off x="7154477" y="3392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60,51 €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" y="3867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Cuaderno digital (72)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493008" y="3831336"/>
            <a:ext cx="3234324" cy="274320"/>
          </a:xfrm>
          <a:prstGeom prst="rect">
            <a:avLst/>
          </a:prstGeom>
          <a:solidFill>
            <a:srgbClr val="2433B8"/>
          </a:solidFill>
          <a:ln/>
        </p:spPr>
      </p:sp>
      <p:sp>
        <p:nvSpPr>
          <p:cNvPr id="24" name="Text 21"/>
          <p:cNvSpPr/>
          <p:nvPr/>
        </p:nvSpPr>
        <p:spPr>
          <a:xfrm>
            <a:off x="6818772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54,82 €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6928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 (primaria) (60)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493008" y="4306824"/>
            <a:ext cx="2329870" cy="274320"/>
          </a:xfrm>
          <a:prstGeom prst="rect">
            <a:avLst/>
          </a:prstGeom>
          <a:solidFill>
            <a:srgbClr val="2433B8"/>
          </a:solidFill>
          <a:ln/>
        </p:spPr>
      </p:sp>
      <p:sp>
        <p:nvSpPr>
          <p:cNvPr id="27" name="Text 24"/>
          <p:cNvSpPr/>
          <p:nvPr/>
        </p:nvSpPr>
        <p:spPr>
          <a:xfrm>
            <a:off x="5914318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39,49 €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66928" y="4818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 (sin resolver) (1)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493008" y="4782312"/>
            <a:ext cx="6400800" cy="274320"/>
          </a:xfrm>
          <a:prstGeom prst="rect">
            <a:avLst/>
          </a:prstGeom>
          <a:solidFill>
            <a:srgbClr val="C2105F"/>
          </a:solidFill>
          <a:ln/>
        </p:spPr>
      </p:sp>
      <p:sp>
        <p:nvSpPr>
          <p:cNvPr id="30" name="Text 27"/>
          <p:cNvSpPr/>
          <p:nvPr/>
        </p:nvSpPr>
        <p:spPr>
          <a:xfrm>
            <a:off x="9985248" y="4818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108,49 €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66928" y="5294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Recurso (1)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493008" y="5257800"/>
            <a:ext cx="854895" cy="274320"/>
          </a:xfrm>
          <a:prstGeom prst="rect">
            <a:avLst/>
          </a:prstGeom>
          <a:solidFill>
            <a:srgbClr val="2433B8"/>
          </a:solidFill>
          <a:ln/>
        </p:spPr>
      </p:sp>
      <p:sp>
        <p:nvSpPr>
          <p:cNvPr id="33" name="Text 30"/>
          <p:cNvSpPr/>
          <p:nvPr/>
        </p:nvSpPr>
        <p:spPr>
          <a:xfrm>
            <a:off x="4439343" y="5294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14,49 €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66928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C4E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global 44,04 €: solo contexto, nunca referencia de comparación.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15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C21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COMPARACIONES EMPAREJADAS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1440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partes cuestan más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i="1" dirty="0">
                <a:solidFill>
                  <a:srgbClr val="243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un libro.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566928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LITTLE LANTERNS · MISMO NIVEL Y EDICIÓN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" y="2926080"/>
            <a:ext cx="4898375" cy="274320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8" name="Text 15"/>
          <p:cNvSpPr/>
          <p:nvPr/>
        </p:nvSpPr>
        <p:spPr>
          <a:xfrm>
            <a:off x="5602463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Completo 54,49 €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3264408"/>
            <a:ext cx="2786743" cy="274320"/>
          </a:xfrm>
          <a:prstGeom prst="rect">
            <a:avLst/>
          </a:prstGeom>
          <a:solidFill>
            <a:srgbClr val="2433B8"/>
          </a:solidFill>
          <a:ln/>
        </p:spPr>
      </p:sp>
      <p:sp>
        <p:nvSpPr>
          <p:cNvPr id="20" name="Shape 17"/>
          <p:cNvSpPr/>
          <p:nvPr/>
        </p:nvSpPr>
        <p:spPr>
          <a:xfrm>
            <a:off x="3353671" y="3264408"/>
            <a:ext cx="2786743" cy="274320"/>
          </a:xfrm>
          <a:prstGeom prst="rect">
            <a:avLst/>
          </a:prstGeom>
          <a:solidFill>
            <a:srgbClr val="6B78D6"/>
          </a:solidFill>
          <a:ln/>
        </p:spPr>
      </p:sp>
      <p:sp>
        <p:nvSpPr>
          <p:cNvPr id="21" name="Shape 18"/>
          <p:cNvSpPr/>
          <p:nvPr/>
        </p:nvSpPr>
        <p:spPr>
          <a:xfrm>
            <a:off x="5465303" y="3236976"/>
            <a:ext cx="675111" cy="329184"/>
          </a:xfrm>
          <a:prstGeom prst="rect">
            <a:avLst/>
          </a:prstGeom>
          <a:ln w="25400">
            <a:solidFill>
              <a:srgbClr val="C210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77574" y="32826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62,00 €   +7,51 € · +13,8 %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C4E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WILDFLOWER WORDS · MISMO NIVEL Y EDICIÓN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4069080"/>
            <a:ext cx="4179215" cy="274320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25" name="Text 22"/>
          <p:cNvSpPr/>
          <p:nvPr/>
        </p:nvSpPr>
        <p:spPr>
          <a:xfrm>
            <a:off x="4883303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Completo 46,49 €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6928" y="4407408"/>
            <a:ext cx="2380418" cy="274320"/>
          </a:xfrm>
          <a:prstGeom prst="rect">
            <a:avLst/>
          </a:prstGeom>
          <a:solidFill>
            <a:srgbClr val="2433B8"/>
          </a:solidFill>
          <a:ln/>
        </p:spPr>
      </p:sp>
      <p:sp>
        <p:nvSpPr>
          <p:cNvPr id="27" name="Shape 24"/>
          <p:cNvSpPr/>
          <p:nvPr/>
        </p:nvSpPr>
        <p:spPr>
          <a:xfrm>
            <a:off x="2947346" y="4407408"/>
            <a:ext cx="2380418" cy="274320"/>
          </a:xfrm>
          <a:prstGeom prst="rect">
            <a:avLst/>
          </a:prstGeom>
          <a:solidFill>
            <a:srgbClr val="6B78D6"/>
          </a:solidFill>
          <a:ln/>
        </p:spPr>
      </p:sp>
      <p:sp>
        <p:nvSpPr>
          <p:cNvPr id="28" name="Shape 25"/>
          <p:cNvSpPr/>
          <p:nvPr/>
        </p:nvSpPr>
        <p:spPr>
          <a:xfrm>
            <a:off x="4746143" y="4379976"/>
            <a:ext cx="581620" cy="329184"/>
          </a:xfrm>
          <a:prstGeom prst="rect">
            <a:avLst/>
          </a:prstGeom>
          <a:ln w="25400">
            <a:solidFill>
              <a:srgbClr val="C210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64924" y="44256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1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52,96 €   +6,47 € · +13,9 %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66928" y="4983480"/>
            <a:ext cx="11057839" cy="1828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1" name="Text 28"/>
          <p:cNvSpPr/>
          <p:nvPr/>
        </p:nvSpPr>
        <p:spPr>
          <a:xfrm>
            <a:off x="566928" y="51663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5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Solucionarios: 24 de 24 parejas de cuaderno con y sin soluciones comparten precio al emparejar por serie, nivel y edición.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FF7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LÍMITES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C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C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91440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un precio de catálogo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i="1" dirty="0">
                <a:solidFill>
                  <a:srgbClr val="9A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puede decir.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566928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ESTÁ EN LOS DATOS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27432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trike="sngStrike" dirty="0">
                <a:solidFill>
                  <a:srgbClr val="8D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· COSTES · MÁRGENES · DESCUENTOS · ELASTICIDAD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66928" y="3657600"/>
            <a:ext cx="5486400" cy="1005840"/>
          </a:xfrm>
          <a:prstGeom prst="rect">
            <a:avLst/>
          </a:prstGeom>
          <a:ln w="12700">
            <a:solidFill>
              <a:srgbClr val="3A3C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7856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9808" y="40416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 deliberado el descuento Starter en Mosaic English y Silverline Skills?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08192" y="3657600"/>
            <a:ext cx="5486400" cy="1005840"/>
          </a:xfrm>
          <a:prstGeom prst="rect">
            <a:avLst/>
          </a:prstGeom>
          <a:ln w="12700">
            <a:solidFill>
              <a:srgbClr val="3A3C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91072" y="37856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91072" y="40416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 gestiona los metadatos de serie y cómo se archivaron mal las filas 20 y 155?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66928" y="4754880"/>
            <a:ext cx="5486400" cy="1005840"/>
          </a:xfrm>
          <a:prstGeom prst="rect">
            <a:avLst/>
          </a:prstGeom>
          <a:ln w="12700">
            <a:solidFill>
              <a:srgbClr val="3A3C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4882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9808" y="513892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 intencionado el sobrecoste de en torno al 14 % por comprar un libro en dos partes?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108192" y="4754880"/>
            <a:ext cx="5486400" cy="1005840"/>
          </a:xfrm>
          <a:prstGeom prst="rect">
            <a:avLst/>
          </a:prstGeom>
          <a:ln w="12700">
            <a:solidFill>
              <a:srgbClr val="3A3C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1072" y="4882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91072" y="513892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«TB» y encaja 108,49 € en este catálogo?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1927" y="2286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28232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61927" y="6629400"/>
            <a:ext cx="201168" cy="0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28232"/>
            <a:ext cx="0" cy="201168"/>
          </a:xfrm>
          <a:prstGeom prst="line">
            <a:avLst/>
          </a:prstGeom>
          <a:noFill/>
          <a:ln w="9525">
            <a:solidFill>
              <a:srgbClr val="F3F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indent="0" marL="0">
              <a:buNone/>
            </a:pPr>
            <a:r>
              <a:rPr lang="en-US" sz="1300" spc="100" kern="0" dirty="0">
                <a:solidFill>
                  <a:srgbClr val="FF7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spc="100" kern="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2767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C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8367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C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FICTICIOS · CASO INDEPENDIENTE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10058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SIGNAL</a:t>
            </a:r>
            <a:endParaRPr lang="en-US" sz="8000" dirty="0"/>
          </a:p>
        </p:txBody>
      </p:sp>
      <p:sp>
        <p:nvSpPr>
          <p:cNvPr id="16" name="Text 13"/>
          <p:cNvSpPr/>
          <p:nvPr/>
        </p:nvSpPr>
        <p:spPr>
          <a:xfrm>
            <a:off x="566928" y="2560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9A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 el origen. Recupera la estructura. Compara lo comparable. Di lo que no sabes.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66928" y="38404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3E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Ficheros: dataset sintético (CSV de origen y enriquecido), JSON de análisis, Excel con fórmulas vivas, esta presentación y una película de 2:36. Generador, análisis y tests reproducibles con la semilla 20261011.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66928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7B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GITHUB.COM/ALFONSOCIFUENTES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5577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Todas las series, productos y precios son inventados. Sin relación con ninguna editorial ni empleador.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 / SIGNAL — Caso de estudio independiente (datos ficticios)</dc:title>
  <dc:subject>Pricing analytics and data quality on an invented catalogue</dc:subject>
  <dc:creator>Alfonso Cifuentes</dc:creator>
  <cp:lastModifiedBy>Alfonso Cifuentes</cp:lastModifiedBy>
  <cp:revision>1</cp:revision>
  <dcterms:created xsi:type="dcterms:W3CDTF">2026-10-13T13:19:53Z</dcterms:created>
  <dcterms:modified xsi:type="dcterms:W3CDTF">2026-10-13T13:19:53Z</dcterms:modified>
</cp:coreProperties>
</file>